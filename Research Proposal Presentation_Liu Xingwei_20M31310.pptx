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  <p:sldMasterId id="2147483648" r:id="rId2"/>
  </p:sldMasterIdLst>
  <p:notesMasterIdLst>
    <p:notesMasterId r:id="rId15"/>
  </p:notesMasterIdLst>
  <p:sldIdLst>
    <p:sldId id="257" r:id="rId3"/>
    <p:sldId id="259" r:id="rId4"/>
    <p:sldId id="261" r:id="rId5"/>
    <p:sldId id="262" r:id="rId6"/>
    <p:sldId id="269" r:id="rId7"/>
    <p:sldId id="263" r:id="rId8"/>
    <p:sldId id="264" r:id="rId9"/>
    <p:sldId id="265" r:id="rId10"/>
    <p:sldId id="266" r:id="rId11"/>
    <p:sldId id="267" r:id="rId12"/>
    <p:sldId id="268" r:id="rId13"/>
    <p:sldId id="26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94660"/>
  </p:normalViewPr>
  <p:slideViewPr>
    <p:cSldViewPr snapToGrid="0">
      <p:cViewPr varScale="1">
        <p:scale>
          <a:sx n="86" d="100"/>
          <a:sy n="86" d="100"/>
        </p:scale>
        <p:origin x="34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90546-566D-496D-9370-C92E03A6550C}" type="datetimeFigureOut">
              <a:rPr lang="zh-CN" altLang="en-US" smtClean="0"/>
              <a:t>2020/12/1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1BF26-0671-4F5B-8580-3C0752CB03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77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9FA3E-9CC6-4EF3-A354-29CAD25CD5C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160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DC0AD-8367-41EF-9EB1-4D448CE7F4E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446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DC0AD-8367-41EF-9EB1-4D448CE7F4E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454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DC0AD-8367-41EF-9EB1-4D448CE7F4E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998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DC0AD-8367-41EF-9EB1-4D448CE7F4E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828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dk1">
                    <a:lumMod val="10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dk1">
                    <a:lumMod val="10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5BF7635F-88A6-4A3C-A263-194C551FD4A6}" type="datetime1">
              <a:rPr lang="zh-CN" altLang="en-US" smtClean="0"/>
              <a:t>2020/12/1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dk1">
                    <a:lumMod val="100000"/>
                    <a:tint val="75000"/>
                  </a:schemeClr>
                </a:solidFill>
              </a:defRPr>
            </a:lvl1pPr>
          </a:lstStyle>
          <a:p>
            <a:fld id="{1A9C1567-A2C4-4F1C-87D1-49FA3CB4F3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28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71536-2185-4D85-B983-92B01F9D6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10B549-E16A-488C-8D7D-BDA97507B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8DD58D-95DD-43CE-9BD1-B2119C7E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DE87E-421F-4DAB-A003-BAB31E9E6F57}" type="datetime1">
              <a:rPr lang="zh-CN" altLang="en-US" smtClean="0"/>
              <a:t>2020/12/1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AF9CA7-1D53-44C2-8657-E1EC818E3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409531-0654-4AFA-999C-34F3077F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/>
            </a:lvl1pPr>
          </a:lstStyle>
          <a:p>
            <a:fld id="{01803D8F-110E-475B-9565-E9A23295A71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图片 7" descr="图标&#10;&#10;描述已自动生成">
            <a:extLst>
              <a:ext uri="{FF2B5EF4-FFF2-40B4-BE49-F238E27FC236}">
                <a16:creationId xmlns:a16="http://schemas.microsoft.com/office/drawing/2014/main" id="{C2F92BF6-33B4-4F5A-8D38-17E3DCE1F7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245" y="365125"/>
            <a:ext cx="878555" cy="86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33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1">
                    <a:lumMod val="100000"/>
                    <a:tint val="75000"/>
                  </a:schemeClr>
                </a:solidFill>
                <a:latin typeface="Yu Gothic UI Light" panose="020B0300000000000000" pitchFamily="34" charset="-128"/>
              </a:defRPr>
            </a:lvl1pPr>
          </a:lstStyle>
          <a:p>
            <a:fld id="{CAD071FF-3BC3-45FF-A033-7D1331852730}" type="datetime1">
              <a:rPr lang="zh-CN" altLang="en-US" smtClean="0"/>
              <a:t>2020/12/1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Yu Gothic UI Light" panose="020B0300000000000000" pitchFamily="34" charset="-128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1">
                    <a:lumMod val="100000"/>
                    <a:tint val="75000"/>
                  </a:schemeClr>
                </a:solidFill>
                <a:latin typeface="Yu Gothic UI Light" panose="020B0300000000000000" pitchFamily="34" charset="-128"/>
              </a:defRPr>
            </a:lvl1pPr>
          </a:lstStyle>
          <a:p>
            <a:fld id="{1A9C1567-A2C4-4F1C-87D1-49FA3CB4F31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5969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1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dk1">
              <a:lumMod val="100000"/>
            </a:schemeClr>
          </a:solidFill>
          <a:latin typeface="Yu Gothic UI Light" panose="020B0300000000000000" pitchFamily="34" charset="-128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dk1">
              <a:lumMod val="100000"/>
            </a:schemeClr>
          </a:solidFill>
          <a:latin typeface="Yu Gothic UI Light" panose="020B0300000000000000" pitchFamily="34" charset="-128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dk1">
              <a:lumMod val="100000"/>
            </a:schemeClr>
          </a:solidFill>
          <a:latin typeface="Yu Gothic UI Light" panose="020B0300000000000000" pitchFamily="34" charset="-128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1">
              <a:lumMod val="100000"/>
            </a:schemeClr>
          </a:solidFill>
          <a:latin typeface="Yu Gothic UI Light" panose="020B0300000000000000" pitchFamily="34" charset="-128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dk1">
              <a:lumMod val="100000"/>
            </a:schemeClr>
          </a:solidFill>
          <a:latin typeface="Yu Gothic UI Light" panose="020B0300000000000000" pitchFamily="34" charset="-128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44C163B-E146-47F8-9A10-44C6D8BD7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8585BD-B6EE-469F-85C1-33944BD9F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C65AFC-B276-4342-BF9D-555403F51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2262A-5CCB-4ABF-8A98-7785A8D61CB6}" type="datetime1">
              <a:rPr lang="zh-CN" altLang="en-US" smtClean="0"/>
              <a:t>2020/12/1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FCC8C1-8E42-45B8-8FAC-055E4AFD0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4CA172-930E-4DAE-BC78-3D69A2302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03D8F-110E-475B-9565-E9A23295A7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62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ECB15-922A-4EB2-821F-1CCE07BB1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2424953"/>
          </a:xfrm>
        </p:spPr>
        <p:txBody>
          <a:bodyPr>
            <a:normAutofit fontScale="90000"/>
          </a:bodyPr>
          <a:lstStyle/>
          <a:p>
            <a:r>
              <a:rPr lang="en-US" altLang="zh-CN" sz="4400" dirty="0">
                <a:latin typeface="Arial Rounded MT Bold" panose="020F0704030504030204" pitchFamily="34" charset="0"/>
              </a:rPr>
              <a:t>Hyperspectral image restoration by constrained tensor-ring decomposition</a:t>
            </a:r>
            <a:br>
              <a:rPr lang="en-US" altLang="zh-CN" sz="4400" dirty="0">
                <a:latin typeface="Arial Rounded MT Bold" panose="020F0704030504030204" pitchFamily="34" charset="0"/>
              </a:rPr>
            </a:br>
            <a:br>
              <a:rPr lang="en-US" altLang="zh-CN" sz="4400" dirty="0">
                <a:latin typeface="Arial Rounded MT Bold" panose="020F0704030504030204" pitchFamily="34" charset="0"/>
              </a:rPr>
            </a:br>
            <a:r>
              <a:rPr lang="en-US" altLang="zh-CN" sz="4400" dirty="0">
                <a:latin typeface="Arial Rounded MT Bold" panose="020F0704030504030204" pitchFamily="34" charset="0"/>
              </a:rPr>
              <a:t>Research Proposal Presentation</a:t>
            </a:r>
            <a:endParaRPr lang="zh-CN" altLang="en-US" sz="4400" dirty="0">
              <a:solidFill>
                <a:schemeClr val="dk1"/>
              </a:solidFill>
              <a:latin typeface="Arial Rounded MT Bold" panose="020F0704030504030204" pitchFamily="34" charset="0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129937-C9E8-4A61-9986-3D4ED4CFC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6839"/>
            <a:ext cx="9144000" cy="1655762"/>
          </a:xfrm>
        </p:spPr>
        <p:txBody>
          <a:bodyPr/>
          <a:lstStyle/>
          <a:p>
            <a:endParaRPr lang="en-US" altLang="zh-CN" dirty="0">
              <a:solidFill>
                <a:schemeClr val="dk1">
                  <a:lumMod val="100000"/>
                </a:schemeClr>
              </a:solidFill>
              <a:latin typeface="+mn-lt"/>
              <a:cs typeface="+mn-ea"/>
              <a:sym typeface="+mn-lt"/>
            </a:endParaRPr>
          </a:p>
          <a:p>
            <a:r>
              <a:rPr lang="en-US" altLang="zh-CN" dirty="0">
                <a:solidFill>
                  <a:schemeClr val="dk1">
                    <a:lumMod val="100000"/>
                  </a:schemeClr>
                </a:solidFill>
                <a:latin typeface="Ink Free" panose="03080402000500000000" pitchFamily="66" charset="0"/>
                <a:cs typeface="+mn-ea"/>
                <a:sym typeface="+mn-lt"/>
              </a:rPr>
              <a:t>Liu Xingwei </a:t>
            </a:r>
          </a:p>
          <a:p>
            <a:r>
              <a:rPr lang="en-US" altLang="zh-CN" dirty="0">
                <a:latin typeface="Ink Free" panose="03080402000500000000" pitchFamily="66" charset="0"/>
                <a:cs typeface="+mn-ea"/>
                <a:sym typeface="+mn-lt"/>
              </a:rPr>
              <a:t>1</a:t>
            </a:r>
            <a:r>
              <a:rPr lang="en-US" altLang="zh-CN" dirty="0">
                <a:solidFill>
                  <a:schemeClr val="dk1">
                    <a:lumMod val="100000"/>
                  </a:schemeClr>
                </a:solidFill>
                <a:latin typeface="Ink Free" panose="03080402000500000000" pitchFamily="66" charset="0"/>
                <a:cs typeface="+mn-ea"/>
                <a:sym typeface="+mn-lt"/>
              </a:rPr>
              <a:t> December 2020</a:t>
            </a:r>
            <a:endParaRPr lang="zh-CN" altLang="en-US" dirty="0">
              <a:solidFill>
                <a:schemeClr val="dk1">
                  <a:lumMod val="100000"/>
                </a:schemeClr>
              </a:solidFill>
              <a:latin typeface="Ink Free" panose="03080402000500000000" pitchFamily="66" charset="0"/>
              <a:cs typeface="+mn-ea"/>
              <a:sym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248FB7-E8C9-4AFE-8D8D-E5D4CD041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C1567-A2C4-4F1C-87D1-49FA3CB4F315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302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10439-657F-46FF-8977-78D9A6AA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4081"/>
            <a:ext cx="10515600" cy="803799"/>
          </a:xfrm>
        </p:spPr>
        <p:txBody>
          <a:bodyPr/>
          <a:lstStyle/>
          <a:p>
            <a:endParaRPr lang="en-US" altLang="zh-CN" b="0" i="0" u="none" strike="noStrike" baseline="0" dirty="0">
              <a:solidFill>
                <a:schemeClr val="dk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CAA7E9-198E-4568-A3C0-B465D0D62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366887"/>
            <a:ext cx="10515600" cy="4989462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Observed model 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Objective function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 Optimization method</a:t>
            </a:r>
          </a:p>
          <a:p>
            <a:pPr marL="0" indent="0">
              <a:buNone/>
            </a:pPr>
            <a:endParaRPr lang="en-US" altLang="zh-CN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5.   Present result and further research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b="0" i="0" u="none" strike="noStrike" baseline="0" dirty="0">
              <a:solidFill>
                <a:srgbClr val="4F81BD"/>
              </a:solidFill>
              <a:cs typeface="+mn-ea"/>
              <a:sym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5AF6FE-7CE6-478A-AE4E-F5CEE829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3D8F-110E-475B-9565-E9A23295A71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620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10439-657F-46FF-8977-78D9A6AA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4081"/>
            <a:ext cx="10515600" cy="803799"/>
          </a:xfrm>
        </p:spPr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Introduction</a:t>
            </a:r>
            <a:endParaRPr lang="en-US" altLang="zh-CN" b="0" i="0" u="none" strike="noStrike" baseline="0" dirty="0">
              <a:solidFill>
                <a:schemeClr val="dk1"/>
              </a:solidFill>
              <a:latin typeface="Arial Rounded MT Bold" panose="020F070403050403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CAA7E9-198E-4568-A3C0-B465D0D62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366887"/>
            <a:ext cx="10515600" cy="4989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Hyperspectral image(HSI) restoration:</a:t>
            </a:r>
          </a:p>
          <a:p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HSI:  contains 2-dimensional spatial information and 1-dimensional spectral information</a:t>
            </a:r>
          </a:p>
          <a:p>
            <a:endParaRPr lang="en-US" altLang="zh-CN" dirty="0">
              <a:latin typeface="Arial Rounded MT Bold" panose="020F0704030504030204" pitchFamily="34" charset="0"/>
            </a:endParaRPr>
          </a:p>
          <a:p>
            <a:r>
              <a:rPr lang="en-US" altLang="zh-CN" dirty="0">
                <a:latin typeface="Arial Rounded MT Bold" panose="020F0704030504030204" pitchFamily="34" charset="0"/>
              </a:rPr>
              <a:t>2-dimensional image ---  Matrix</a:t>
            </a:r>
          </a:p>
          <a:p>
            <a:pPr marL="0" indent="0">
              <a:buNone/>
            </a:pPr>
            <a:r>
              <a:rPr lang="en-US" altLang="zh-CN" dirty="0">
                <a:latin typeface="Arial Rounded MT Bold" panose="020F0704030504030204" pitchFamily="34" charset="0"/>
              </a:rPr>
              <a:t>  3-dimensional HSI --- Tensor</a:t>
            </a:r>
          </a:p>
          <a:p>
            <a:pPr marL="0" indent="0">
              <a:buNone/>
            </a:pPr>
            <a:endParaRPr lang="en-US" altLang="zh-CN" b="0" i="0" u="none" strike="noStrike" baseline="0" dirty="0">
              <a:solidFill>
                <a:srgbClr val="4F81BD"/>
              </a:solidFill>
              <a:cs typeface="+mn-ea"/>
              <a:sym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5AF6FE-7CE6-478A-AE4E-F5CEE829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3D8F-110E-475B-9565-E9A23295A717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8" name="图片 7" descr="地图&#10;&#10;描述已自动生成">
            <a:extLst>
              <a:ext uri="{FF2B5EF4-FFF2-40B4-BE49-F238E27FC236}">
                <a16:creationId xmlns:a16="http://schemas.microsoft.com/office/drawing/2014/main" id="{40123439-798D-4937-9E43-ADF4BB817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709" y="2951483"/>
            <a:ext cx="2876982" cy="287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32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10439-657F-46FF-8977-78D9A6AA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4081"/>
            <a:ext cx="10515600" cy="803799"/>
          </a:xfrm>
        </p:spPr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Introduction</a:t>
            </a:r>
            <a:endParaRPr lang="en-US" altLang="zh-CN" b="0" i="0" u="none" strike="noStrike" baseline="0" dirty="0">
              <a:solidFill>
                <a:schemeClr val="dk1"/>
              </a:solidFill>
              <a:latin typeface="Arial Rounded MT Bold" panose="020F070403050403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CAA7E9-198E-4568-A3C0-B465D0D62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366887"/>
            <a:ext cx="10515600" cy="498946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T</a:t>
            </a:r>
            <a:r>
              <a:rPr lang="en-US" altLang="zh-CN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ensor decomposition : Tensor-ring decomposition</a:t>
            </a:r>
          </a:p>
          <a:p>
            <a:endParaRPr lang="en-US" altLang="zh-CN" sz="3200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b="0" i="0" u="none" strike="noStrike" baseline="0" dirty="0">
              <a:solidFill>
                <a:srgbClr val="4F81BD"/>
              </a:solidFill>
              <a:cs typeface="+mn-ea"/>
              <a:sym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5AF6FE-7CE6-478A-AE4E-F5CEE829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3D8F-110E-475B-9565-E9A23295A717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702C88-4F07-4241-A002-DA3F5E307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2162700"/>
            <a:ext cx="10120237" cy="182895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308986-B785-44C1-90B3-DBBC705D41A9}"/>
              </a:ext>
            </a:extLst>
          </p:cNvPr>
          <p:cNvSpPr txBox="1"/>
          <p:nvPr/>
        </p:nvSpPr>
        <p:spPr>
          <a:xfrm>
            <a:off x="838199" y="4787470"/>
            <a:ext cx="110845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 Rounded MT Bold" panose="020F0704030504030204" pitchFamily="34" charset="0"/>
              </a:rPr>
              <a:t>   Tensor                    </a:t>
            </a:r>
            <a:r>
              <a:rPr lang="en-US" altLang="zh-CN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a series of third-order factor tensors</a:t>
            </a:r>
            <a:endParaRPr lang="zh-CN" altLang="en-US" sz="3200" dirty="0">
              <a:latin typeface="Arial Rounded MT Bold" panose="020F0704030504030204" pitchFamily="34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EFA9DABE-2B46-457A-8C70-C9F1EC7D2B80}"/>
              </a:ext>
            </a:extLst>
          </p:cNvPr>
          <p:cNvSpPr/>
          <p:nvPr/>
        </p:nvSpPr>
        <p:spPr>
          <a:xfrm>
            <a:off x="3613211" y="4836367"/>
            <a:ext cx="781235" cy="45747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912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10439-657F-46FF-8977-78D9A6AA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4081"/>
            <a:ext cx="10515600" cy="803799"/>
          </a:xfrm>
        </p:spPr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Introduction</a:t>
            </a:r>
            <a:endParaRPr lang="en-US" altLang="zh-CN" b="0" i="0" u="none" strike="noStrike" baseline="0" dirty="0">
              <a:solidFill>
                <a:schemeClr val="dk1"/>
              </a:solidFill>
              <a:latin typeface="Arial Rounded MT Bold" panose="020F070403050403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CAA7E9-198E-4568-A3C0-B465D0D62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366887"/>
            <a:ext cx="10515600" cy="4989462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My research:</a:t>
            </a:r>
          </a:p>
          <a:p>
            <a:endParaRPr lang="en-US" altLang="zh-CN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r>
              <a:rPr lang="en-US" altLang="zh-CN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Restore the clean HSI from noisy observed HSI which misses some pixels</a:t>
            </a:r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’</a:t>
            </a:r>
            <a:r>
              <a:rPr lang="en-US" altLang="zh-CN" sz="3200" dirty="0">
                <a:latin typeface="Arial Rounded MT Bold" panose="020F070403050403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information in observation process.</a:t>
            </a:r>
            <a:endParaRPr lang="en-US" altLang="zh-CN" sz="3200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b="0" i="0" u="none" strike="noStrike" baseline="0" dirty="0">
              <a:solidFill>
                <a:srgbClr val="4F81BD"/>
              </a:solidFill>
              <a:cs typeface="+mn-ea"/>
              <a:sym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5AF6FE-7CE6-478A-AE4E-F5CEE829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3D8F-110E-475B-9565-E9A23295A717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F41CDD3-9321-40DA-A031-A2F2DE0DBA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51" r="33873"/>
          <a:stretch/>
        </p:blipFill>
        <p:spPr>
          <a:xfrm>
            <a:off x="6095999" y="3549468"/>
            <a:ext cx="5763491" cy="280688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B49AD66-84C5-483A-8C45-B77DE60D7898}"/>
              </a:ext>
            </a:extLst>
          </p:cNvPr>
          <p:cNvSpPr txBox="1"/>
          <p:nvPr/>
        </p:nvSpPr>
        <p:spPr>
          <a:xfrm>
            <a:off x="4145535" y="5591167"/>
            <a:ext cx="1950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Rounded MT Bold" panose="020F0704030504030204" pitchFamily="34" charset="0"/>
              </a:rPr>
              <a:t>50% observed</a:t>
            </a:r>
            <a:endParaRPr lang="zh-CN" alt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923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DEDCE-A28A-43ED-963B-7288DE9A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59897" cy="132556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2. Observed model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F7F0BC6-8EC8-4A04-A644-EBECF8BDE1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𝒳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𝒳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∈  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×⋯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: </a:t>
                </a:r>
                <a:r>
                  <a:rPr lang="en-US" altLang="zh-CN" dirty="0">
                    <a:latin typeface="Arial Rounded MT Bold" panose="020F0704030504030204" pitchFamily="34" charset="0"/>
                  </a:rPr>
                  <a:t>clear original HSI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Arial Rounded MT Bold" panose="020F0704030504030204" pitchFamily="34" charset="0"/>
                  </a:rPr>
                  <a:t>: Observation operator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×⋯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endParaRPr lang="en-US" altLang="zh-CN" dirty="0">
                  <a:latin typeface="Arial Rounded MT Bold" panose="020F07040305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CN" dirty="0">
                    <a:latin typeface="Arial Rounded MT Bold" panose="020F0704030504030204" pitchFamily="34" charset="0"/>
                  </a:rPr>
                  <a:t>: Vector of observed HSI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latin typeface="Arial Rounded MT Bold" panose="020F0704030504030204" pitchFamily="34" charset="0"/>
                  </a:rPr>
                  <a:t>: Vector of noise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dirty="0">
                    <a:latin typeface="Arial Rounded MT Bold" panose="020F0704030504030204" pitchFamily="34" charset="0"/>
                  </a:rPr>
                  <a:t>: the number of observed pixels</a:t>
                </a:r>
                <a:endParaRPr lang="zh-CN" altLang="en-US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F7F0BC6-8EC8-4A04-A644-EBECF8BDE1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D4E46-9A60-4EB3-998B-221EAC02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3D8F-110E-475B-9565-E9A23295A717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967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DEDCE-A28A-43ED-963B-7288DE9A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59897" cy="132556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3. Objective function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F7F0BC6-8EC8-4A04-A644-EBECF8BDE1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</a:rPr>
                                <m:t>𝒳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zh-CN" altLang="en-US" sz="2800" b="0" i="1" smtClean="0">
                                  <a:latin typeface="Cambria Math" panose="02040503050406030204" pitchFamily="18" charset="0"/>
                                </a:rPr>
                                <m:t>𝒢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  <m:r>
                                <a:rPr lang="zh-CN" alt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𝒳</m:t>
                              </m:r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𝑇𝑉</m:t>
                              </m:r>
                            </m:sub>
                          </m:sSub>
                        </m:e>
                      </m:func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  <m:r>
                            <m:rPr>
                              <m:sty m:val="p"/>
                            </m:rP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𝒳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𝒳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𝒢</m:t>
                              </m:r>
                            </m:e>
                          </m:d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r>
                  <a:rPr lang="en-US" altLang="zh-CN" sz="2400" dirty="0"/>
                  <a:t>: </a:t>
                </a:r>
                <a:r>
                  <a:rPr lang="en-US" altLang="zh-CN" sz="2400" dirty="0">
                    <a:latin typeface="Arial Rounded MT Bold" panose="020F0704030504030204" pitchFamily="34" charset="0"/>
                  </a:rPr>
                  <a:t>sequence of TR  three-order factor tensors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 Rounded MT Bold" panose="020F0704030504030204" pitchFamily="34" charset="0"/>
                  </a:rPr>
                  <a:t>: the operator to transform the TR factor tensors into the approximated HSI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∥∙∥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𝑇𝑉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 Rounded MT Bold" panose="020F0704030504030204" pitchFamily="34" charset="0"/>
                  </a:rPr>
                  <a:t>: Total variation , to increase smoothness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400" dirty="0">
                    <a:latin typeface="Arial Rounded MT Bold" panose="020F0704030504030204" pitchFamily="34" charset="0"/>
                  </a:rPr>
                  <a:t>: denoising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𝒳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𝒢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2400" dirty="0">
                    <a:latin typeface="Arial Rounded MT Bold" panose="020F0704030504030204" pitchFamily="34" charset="0"/>
                  </a:rPr>
                  <a:t>: reduce the difference of observed tensor and approximated tensor </a:t>
                </a:r>
                <a:endParaRPr lang="zh-CN" altLang="en-US" sz="2400" dirty="0">
                  <a:latin typeface="Arial Rounded MT Bold" panose="020F0704030504030204" pitchFamily="34" charset="0"/>
                </a:endParaRPr>
              </a:p>
            </p:txBody>
          </p:sp>
        </mc:Choice>
        <mc:Fallback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F7F0BC6-8EC8-4A04-A644-EBECF8BDE1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D4E46-9A60-4EB3-998B-221EAC02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3D8F-110E-475B-9565-E9A23295A717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735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DEDCE-A28A-43ED-963B-7288DE9A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59897" cy="132556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4. Optimization method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7F0BC6-8EC8-4A04-A644-EBECF8BDE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Arial Rounded MT Bold" panose="020F0704030504030204" pitchFamily="34" charset="0"/>
              </a:rPr>
              <a:t>Primal-dual splitting method</a:t>
            </a:r>
          </a:p>
          <a:p>
            <a:r>
              <a:rPr lang="en-US" altLang="zh-CN" dirty="0">
                <a:latin typeface="Arial Rounded MT Bold" panose="020F0704030504030204" pitchFamily="34" charset="0"/>
              </a:rPr>
              <a:t>ADMM</a:t>
            </a:r>
            <a:endParaRPr lang="zh-CN" alt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D4E46-9A60-4EB3-998B-221EAC02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3D8F-110E-475B-9565-E9A23295A717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4446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DEDCE-A28A-43ED-963B-7288DE9A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59897" cy="132556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5. Present result and further research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7F0BC6-8EC8-4A04-A644-EBECF8BDE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Arial Rounded MT Bold" panose="020F0704030504030204" pitchFamily="34" charset="0"/>
              </a:rPr>
              <a:t>K = 0.5;</a:t>
            </a:r>
          </a:p>
          <a:p>
            <a:r>
              <a:rPr lang="en-US" altLang="zh-CN" sz="2400" dirty="0">
                <a:latin typeface="Arial Rounded MT Bold" panose="020F0704030504030204" pitchFamily="34" charset="0"/>
              </a:rPr>
              <a:t>noise = 10/255;		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D4E46-9A60-4EB3-998B-221EAC02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3D8F-110E-475B-9565-E9A23295A717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41CDD3-9321-40DA-A031-A2F2DE0DB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579" y="2908774"/>
            <a:ext cx="8656841" cy="280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27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DEDCE-A28A-43ED-963B-7288DE9A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59897" cy="132556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5. Present result and further research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F7F0BC6-8EC8-4A04-A644-EBECF8BDE1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𝐸𝑅𝑅𝑂𝑅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den>
                    </m:f>
                  </m:oMath>
                </a14:m>
                <a:r>
                  <a:rPr lang="en-US" altLang="zh-CN" sz="2400" dirty="0">
                    <a:latin typeface="Arial Rounded MT Bold" panose="020F0704030504030204" pitchFamily="34" charset="0"/>
                  </a:rPr>
                  <a:t>		</a:t>
                </a:r>
              </a:p>
            </p:txBody>
          </p:sp>
        </mc:Choice>
        <mc:Fallback xmlns="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F7F0BC6-8EC8-4A04-A644-EBECF8BDE1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D4E46-9A60-4EB3-998B-221EAC02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3D8F-110E-475B-9565-E9A23295A717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54A7C7-2725-4AAA-84CC-9620008A5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934" y="2684305"/>
            <a:ext cx="6728131" cy="358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38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DEDCE-A28A-43ED-963B-7288DE9A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59897" cy="132556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Arial Rounded MT Bold" panose="020F0704030504030204" pitchFamily="34" charset="0"/>
                <a:cs typeface="Arial" panose="020B0604020202020204" pitchFamily="34" charset="0"/>
              </a:rPr>
              <a:t>5. Present result and further research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7F0BC6-8EC8-4A04-A644-EBECF8BDE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Arial Rounded MT Bold" panose="020F0704030504030204" pitchFamily="34" charset="0"/>
              </a:rPr>
              <a:t>Modify algorithm and promote performance</a:t>
            </a:r>
          </a:p>
          <a:p>
            <a:r>
              <a:rPr lang="en-US" altLang="zh-CN" dirty="0">
                <a:latin typeface="Arial Rounded MT Bold" panose="020F0704030504030204" pitchFamily="34" charset="0"/>
              </a:rPr>
              <a:t>Try other types of noise </a:t>
            </a:r>
          </a:p>
          <a:p>
            <a:pPr lvl="1"/>
            <a:r>
              <a:rPr lang="en-US" altLang="zh-CN" dirty="0">
                <a:latin typeface="Arial Rounded MT Bold" panose="020F0704030504030204" pitchFamily="34" charset="0"/>
              </a:rPr>
              <a:t>Pepper and salt noise </a:t>
            </a:r>
          </a:p>
          <a:p>
            <a:pPr lvl="1"/>
            <a:r>
              <a:rPr lang="en-US" altLang="zh-CN" dirty="0">
                <a:latin typeface="Arial Rounded MT Bold" panose="020F0704030504030204" pitchFamily="34" charset="0"/>
              </a:rPr>
              <a:t>Stripe noise</a:t>
            </a:r>
          </a:p>
          <a:p>
            <a:r>
              <a:rPr lang="en-US" altLang="zh-CN" dirty="0">
                <a:latin typeface="Arial Rounded MT Bold" panose="020F0704030504030204" pitchFamily="34" charset="0"/>
              </a:rPr>
              <a:t>Try other types of HSI</a:t>
            </a:r>
          </a:p>
          <a:p>
            <a:pPr lvl="1"/>
            <a:r>
              <a:rPr lang="en-US" altLang="zh-CN" dirty="0">
                <a:latin typeface="Arial Rounded MT Bold" panose="020F0704030504030204" pitchFamily="34" charset="0"/>
              </a:rPr>
              <a:t> 4-dimensional video</a:t>
            </a:r>
          </a:p>
          <a:p>
            <a:endParaRPr lang="en-US" altLang="zh-CN" dirty="0">
              <a:latin typeface="Arial Rounded MT Bold" panose="020F070403050403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CD4E46-9A60-4EB3-998B-221EAC02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3D8F-110E-475B-9565-E9A23295A717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881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10439-657F-46FF-8977-78D9A6AA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en-US" altLang="zh-CN" dirty="0">
                <a:highlight>
                  <a:srgbClr val="FCF8F3"/>
                </a:highlight>
                <a:latin typeface="Arial Rounded MT Bold" panose="020F0704030504030204" pitchFamily="34" charset="0"/>
              </a:rPr>
              <a:t>That’s All. Thanks for listening.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0B27AA7-AD41-42EF-A46A-4CEE0DF7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03D8F-110E-475B-9565-E9A23295A71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405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koarraf">
      <a:majorFont>
        <a:latin typeface="Yu Gothic UI Light" panose="020F0302020204030204"/>
        <a:ea typeface="微软雅黑"/>
        <a:cs typeface=""/>
      </a:majorFont>
      <a:minorFont>
        <a:latin typeface="Yu Gothic UI Light" panose="020F0502020204030204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koarraf">
      <a:majorFont>
        <a:latin typeface="Yu Gothic UI Light" panose="020F0302020204030204"/>
        <a:ea typeface="微软雅黑"/>
        <a:cs typeface=""/>
      </a:majorFont>
      <a:minorFont>
        <a:latin typeface="Yu Gothic UI Light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305</Words>
  <Application>Microsoft Office PowerPoint</Application>
  <PresentationFormat>宽屏</PresentationFormat>
  <Paragraphs>78</Paragraphs>
  <Slides>12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Yu Gothic UI Light</vt:lpstr>
      <vt:lpstr>等线</vt:lpstr>
      <vt:lpstr>Arial</vt:lpstr>
      <vt:lpstr>Arial Rounded MT Bold</vt:lpstr>
      <vt:lpstr>Cambria Math</vt:lpstr>
      <vt:lpstr>Ink Free</vt:lpstr>
      <vt:lpstr>Office Theme</vt:lpstr>
      <vt:lpstr>Office 主题​​</vt:lpstr>
      <vt:lpstr>Hyperspectral image restoration by constrained tensor-ring decomposition  Research Proposal Presentation</vt:lpstr>
      <vt:lpstr>PowerPoint 演示文稿</vt:lpstr>
      <vt:lpstr>1. Introduction</vt:lpstr>
      <vt:lpstr>1. Introduction</vt:lpstr>
      <vt:lpstr>1. Introduction</vt:lpstr>
      <vt:lpstr>2. Observed model</vt:lpstr>
      <vt:lpstr>3. Objective function</vt:lpstr>
      <vt:lpstr>4. Optimization method</vt:lpstr>
      <vt:lpstr>5. Present result and further research</vt:lpstr>
      <vt:lpstr>5. Present result and further research</vt:lpstr>
      <vt:lpstr>5. Present result and further research</vt:lpstr>
      <vt:lpstr>That’s All. Thanks for listening.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and Interpretable Deep Blind Image Deblurring Via Algorithm Unrolling  Yuelong Li, Mohammad Tofighi, Junyi Geng, Vishal Monga, and Yonina C. Eldar IEEE TRANSACTIONS ON COMPUTATIONAL IMAGING 2020</dc:title>
  <dc:creator>T20200072663</dc:creator>
  <cp:lastModifiedBy>刘 星炜</cp:lastModifiedBy>
  <cp:revision>39</cp:revision>
  <dcterms:created xsi:type="dcterms:W3CDTF">2020-06-22T05:26:15Z</dcterms:created>
  <dcterms:modified xsi:type="dcterms:W3CDTF">2020-12-01T04:35:48Z</dcterms:modified>
</cp:coreProperties>
</file>